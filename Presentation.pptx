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5AE8BC-3ED4-4067-997D-55A8E70EB78B}" v="247" dt="2026-05-21T01:02:26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9889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1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553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6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33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56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5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39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38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0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9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/>
                <a:ea typeface="+mj-lt"/>
                <a:cs typeface="Times New Roman"/>
              </a:rPr>
              <a:t>Проектирование и реализация </a:t>
            </a:r>
            <a:r>
              <a:rPr lang="ru-RU">
                <a:latin typeface="Times New Roman"/>
                <a:ea typeface="+mj-lt"/>
                <a:cs typeface="Times New Roman"/>
              </a:rPr>
              <a:t>web-интерфейса сайта электронной библиотеки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imes New Roman"/>
                <a:cs typeface="Times New Roman"/>
              </a:rPr>
              <a:t>Мещеряков Кирилл Сергеевич </a:t>
            </a:r>
          </a:p>
          <a:p>
            <a:r>
              <a:rPr lang="ru-RU">
                <a:latin typeface="Times New Roman"/>
                <a:cs typeface="Times New Roman"/>
              </a:rPr>
              <a:t>9/1ИС-323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44018-6572-A03D-8D0A-27ABD3C49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>
                <a:solidFill>
                  <a:srgbClr val="000000"/>
                </a:solidFill>
                <a:latin typeface="Times New Roman"/>
                <a:ea typeface="+mj-lt"/>
                <a:cs typeface="Times New Roman"/>
              </a:rPr>
              <a:t>Актуальность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C84B8D-4CBB-E003-8BB2-C0F765EBC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В последние годы электронное чтение становится всё популярнее. Библиотеки и образовательные платформы вынуждены переходить в онлайн, чтобы оставаться востребованными. Качество web-интерфейса напрямую влияет на то, будет ли читатель возвращаться на сайт. Удобство навигации, возможность управлять личными списками (избранное, прочитанное), редактировать профиль – всё это критически важно для привлечения и удержания пользователей. Поэтому проектирование и реализация интуитивно понятного, адаптивного и безопасного web-интерфейса для онлайн-библиотеки является актуальной задачей.</a:t>
            </a:r>
            <a:endParaRPr lang="ru-RU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2402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67B7A-CFA0-64D1-9A37-8DACC1DF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Цель и задачи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B34657-4F58-FA81-9D1E-82255A297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Цель: спроектировать и реализовать web-интерфейс онлайн-библиотеки с чтением книг, личным кабинетом, избранным, прочитанным и редактированием профиля.</a:t>
            </a:r>
            <a:endParaRPr lang="ru-RU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Задачи: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Проанализировать требования пользователей.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Спроектировать структуру сайта.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Реализовать удобный и интуитивно понятный интерфейс сайта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Обеспечить безопасность данных пользователей и защиту их личной информации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Провести тестирование на удобство и функциональность и устранить дефекты.</a:t>
            </a:r>
            <a:endParaRPr lang="ru-RU" sz="2000">
              <a:latin typeface="Times New Roman"/>
              <a:cs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739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00223-70BC-DD07-CCD0-C8E93B44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Объект и предмет исследования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102E88-C1FE-E1D8-4A48-DE7849EEA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latin typeface="Times New Roman"/>
                <a:cs typeface="Times New Roman"/>
              </a:rPr>
              <a:t>Объект исследования:</a:t>
            </a:r>
            <a:br>
              <a:rPr lang="ru-RU" sz="2400" dirty="0">
                <a:latin typeface="Times New Roman"/>
                <a:cs typeface="Times New Roman"/>
              </a:rPr>
            </a:br>
            <a:r>
              <a:rPr lang="ru-RU" sz="2400">
                <a:latin typeface="Times New Roman"/>
                <a:cs typeface="Times New Roman"/>
              </a:rPr>
              <a:t>Процесс предоставления доступа к электронным книгам через web-интерфейс, включая просмотр каталога, чтение, управление личными списками (избранное, прочитанное) и администрирование библиотечного фонда.</a:t>
            </a:r>
          </a:p>
          <a:p>
            <a:r>
              <a:rPr lang="ru-RU" sz="2400">
                <a:latin typeface="Times New Roman"/>
                <a:cs typeface="Times New Roman"/>
              </a:rPr>
              <a:t>Предмет исследования:</a:t>
            </a:r>
            <a:br>
              <a:rPr lang="ru-RU" sz="2400" dirty="0">
                <a:latin typeface="Times New Roman"/>
                <a:cs typeface="Times New Roman"/>
              </a:rPr>
            </a:br>
            <a:r>
              <a:rPr lang="ru-RU" sz="2400">
                <a:latin typeface="Times New Roman"/>
                <a:cs typeface="Times New Roman"/>
              </a:rPr>
              <a:t>Web-интерфейс онлайн-библиотеки, его структура, функциональные компоненты, способы организации хранения данных (JSON-файлы + память сервера) и взаимодействия клиентской и серверной частей на основе архитектуры «клиент-сервер» с использованием языка Go и чистого JavaScript.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8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4678C-4696-CC66-2F99-8140D383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Технологический стек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2AB6E-9496-78F0-926C-F16C06C64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Клиент: HTML (структура), CSS (адаптивный дизайн), чистый JavaScript (динамическое создание DOM, без фреймворков).</a:t>
            </a:r>
            <a:endParaRPr lang="ru-RU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Сервер: Go (Golang) с библиотекой gorilla/mux – высокая производительность, простота развёртывания (один исполняемый файл).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Хранилище: JSON-файлы (books.json, users.json) + оперативная память сервера для быстрого доступа.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Архитектура: клиент-сервер, SPA-подход (переключение вкладок без перезагрузки).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Хостинг: встроенный веб-сервер Go на хостовом компьютере.</a:t>
            </a:r>
            <a:endParaRPr lang="ru-RU" sz="2400">
              <a:latin typeface="Times New Roman"/>
              <a:cs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02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49D63-55F0-E6F4-6337-51BBA087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Функциональные возможности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48AF8-4F78-BEC7-D80E-62E421C5F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Пользователь:</a:t>
            </a:r>
            <a:endParaRPr lang="ru-RU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Регистрация и вход (логин/пароль).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Просмотр каталога книг (обложка, название, автор).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Добавление в «Избранное» – в один клик.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Переход на страницу книги – автоматическая отметка «Прочитано».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Личный кабинет: смена имени, загрузка аватара, списки избранного и прочитанного со счётчиками.</a:t>
            </a:r>
            <a:endParaRPr lang="ru-RU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Администратор: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Отдельная панель для добавления и удаления книг.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Все изменения мгновенно сохраняются и видны всем пользователям.</a:t>
            </a:r>
            <a:endParaRPr lang="ru-RU" sz="2400">
              <a:latin typeface="Times New Roman"/>
              <a:cs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13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4D155-5137-6DDB-A071-AE840BE9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Хранение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000F9-83B5-E2ED-435B-EBAD63B17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books.json: массив книг (id, title, author, cover, description).</a:t>
            </a:r>
            <a:endParaRPr lang="ru-RU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users.json: логин, пароль, имя, аватар, favorites[] (id книг), read[] (id прочитанных).</a:t>
            </a:r>
            <a:endParaRPr lang="ru-RU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Как работает: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При старте сервер загружает данные в память (слайс books, map users).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Все изменения (добавление/удаление книг, обновление профиля) сразу записываются обратно в JSON-файлы – данные не теряются при перезапуске.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Мьютекс (sync.Mutex) защищает от гонок при параллельных запросах.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Клиент кэширует данные в localStorage – ускоряет навигацию.</a:t>
            </a:r>
            <a:endParaRPr lang="ru-RU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0233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00F3C-E91A-6196-7C1C-49F19FFD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Архитектура и взаимодействие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CDCDD6-2B26-F697-01F0-01229331A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100" dirty="0">
                <a:solidFill>
                  <a:srgbClr val="000000"/>
                </a:solidFill>
                <a:latin typeface="Times New Roman"/>
                <a:cs typeface="Times New Roman"/>
              </a:rPr>
              <a:t>Браузер (HTML/CSS/JS)
</a:t>
            </a:r>
            <a:r>
              <a:rPr lang="ru-RU" sz="2100">
                <a:solidFill>
                  <a:srgbClr val="000000"/>
                </a:solidFill>
                <a:latin typeface="Times New Roman"/>
                <a:cs typeface="Times New Roman"/>
              </a:rPr>
              <a:t>       ↕ fetch (JSON)</a:t>
            </a:r>
            <a:r>
              <a:rPr lang="ru-RU" sz="2100" dirty="0">
                <a:solidFill>
                  <a:srgbClr val="000000"/>
                </a:solidFill>
                <a:latin typeface="Times New Roman"/>
                <a:cs typeface="Times New Roman"/>
              </a:rPr>
              <a:t>
</a:t>
            </a:r>
            <a:r>
              <a:rPr lang="ru-RU" sz="2100">
                <a:solidFill>
                  <a:srgbClr val="000000"/>
                </a:solidFill>
                <a:latin typeface="Times New Roman"/>
                <a:cs typeface="Times New Roman"/>
              </a:rPr>
              <a:t>Сервер Go (gorilla/mux)</a:t>
            </a:r>
            <a:r>
              <a:rPr lang="ru-RU" sz="2100" dirty="0">
                <a:solidFill>
                  <a:srgbClr val="000000"/>
                </a:solidFill>
                <a:latin typeface="Times New Roman"/>
                <a:cs typeface="Times New Roman"/>
              </a:rPr>
              <a:t>
</a:t>
            </a:r>
            <a:r>
              <a:rPr lang="ru-RU" sz="2100">
                <a:solidFill>
                  <a:srgbClr val="000000"/>
                </a:solidFill>
                <a:latin typeface="Times New Roman"/>
                <a:cs typeface="Times New Roman"/>
              </a:rPr>
              <a:t>       ↕ чтение/запись</a:t>
            </a:r>
            <a:r>
              <a:rPr lang="ru-RU" sz="2100" dirty="0">
                <a:solidFill>
                  <a:srgbClr val="000000"/>
                </a:solidFill>
                <a:latin typeface="Times New Roman"/>
                <a:cs typeface="Times New Roman"/>
              </a:rPr>
              <a:t>
</a:t>
            </a:r>
            <a:r>
              <a:rPr lang="ru-RU" sz="2100">
                <a:solidFill>
                  <a:srgbClr val="000000"/>
                </a:solidFill>
                <a:latin typeface="Times New Roman"/>
                <a:cs typeface="Times New Roman"/>
              </a:rPr>
              <a:t>books.json + память (map users)</a:t>
            </a:r>
            <a:endParaRPr lang="ru-RU" sz="21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ru-RU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Пользователь кликает – JavaScript отправляет fetch-запрос на сервер.</a:t>
            </a:r>
            <a:endParaRPr lang="ru-RU" sz="2100">
              <a:latin typeface="Times New Roman"/>
              <a:cs typeface="Times New Roman"/>
            </a:endParaRPr>
          </a:p>
          <a:p>
            <a:r>
              <a:rPr lang="ru-RU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Сервер обрабатывает запрос (регистрация, логин, добавление в избранное, управление книгами) и возвращает JSON.</a:t>
            </a:r>
            <a:endParaRPr lang="ru-RU" sz="2100">
              <a:latin typeface="Times New Roman"/>
              <a:cs typeface="Times New Roman"/>
            </a:endParaRPr>
          </a:p>
          <a:p>
            <a:r>
              <a:rPr lang="ru-RU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Клиент обновляет DOM без перезагрузки страницы.</a:t>
            </a:r>
            <a:endParaRPr lang="ru-RU" sz="2100">
              <a:latin typeface="Times New Roman"/>
              <a:cs typeface="Times New Roman"/>
            </a:endParaRPr>
          </a:p>
          <a:p>
            <a:r>
              <a:rPr lang="ru-RU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После логина сервер отдаёт данные пользователя + полный каталог книг, которые сохраняются в localStorage.</a:t>
            </a:r>
            <a:endParaRPr lang="ru-RU" sz="2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912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823FC3-909E-6509-7561-380A3F1C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Скриншоты интерфейса</a:t>
            </a:r>
            <a:endParaRPr lang="ru-RU">
              <a:latin typeface="Times New Roman"/>
              <a:cs typeface="Times New Roman"/>
            </a:endParaRPr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B50CD8-B633-CB8D-4D6E-3787FE9DC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159" y="1825625"/>
            <a:ext cx="5044488" cy="2083774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749875-4B3A-1C74-44E9-42E1D3D44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081" y="1828340"/>
            <a:ext cx="4922276" cy="2089049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BFE241-4E11-0EB0-1846-685B4F626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484" y="4391562"/>
            <a:ext cx="6563033" cy="14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4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14840-DB00-4BEC-4240-FD4C08D6D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Заключение и перспективы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905D65-3AC9-08FA-E2BF-C72AF01E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Результат работы:</a:t>
            </a:r>
            <a:endParaRPr lang="ru-RU" sz="13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Разработано работающее web-приложение онлайн-библиотеки, полностью соответствующее поставленной цели.</a:t>
            </a:r>
            <a:endParaRPr lang="ru-RU" sz="1300">
              <a:latin typeface="Times New Roman"/>
              <a:cs typeface="Times New Roman"/>
            </a:endParaRPr>
          </a:p>
          <a:p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Реализованы: удобный каталог книг, чтение (кнопка-заглушка), добавление в избранное, автоматическая отметка прочитанного, личный кабинет (смена имени, загрузка аватара), административная панель для управления книгами.</a:t>
            </a:r>
            <a:endParaRPr lang="ru-RU" sz="1300">
              <a:latin typeface="Times New Roman"/>
              <a:cs typeface="Times New Roman"/>
            </a:endParaRPr>
          </a:p>
          <a:p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Проведено тестирование, выявленные дефекты устранены, все сценарии использования работают корректно.</a:t>
            </a:r>
            <a:endParaRPr lang="ru-RU" sz="13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Перспективы развития:</a:t>
            </a:r>
            <a:endParaRPr lang="ru-RU" sz="1300">
              <a:latin typeface="Times New Roman"/>
              <a:cs typeface="Times New Roman"/>
            </a:endParaRPr>
          </a:p>
          <a:p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Полнотекстовый поиск и фильтрация книг по жанрам и авторам.</a:t>
            </a:r>
            <a:endParaRPr lang="ru-RU" sz="1300">
              <a:latin typeface="Times New Roman"/>
              <a:cs typeface="Times New Roman"/>
            </a:endParaRPr>
          </a:p>
          <a:p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Система рецензий, рейтингов и рекомендаций на основе предпочтений пользователя.</a:t>
            </a:r>
            <a:endParaRPr lang="ru-RU" sz="1300">
              <a:latin typeface="Times New Roman"/>
              <a:cs typeface="Times New Roman"/>
            </a:endParaRPr>
          </a:p>
          <a:p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Переход на реляционную базу данных (PostgreSQL) и хеширование паролей для повышения безопасности.</a:t>
            </a:r>
            <a:endParaRPr lang="ru-RU" sz="13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3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Вывод: разработанный продукт является полноценной основой для дальнейшего развития в реальный сервис электронной библиотеки.</a:t>
            </a:r>
            <a:endParaRPr lang="ru-RU" sz="13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585912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View</vt:lpstr>
      <vt:lpstr>Проектирование и реализация web-интерфейса сайта электронной библиотеки</vt:lpstr>
      <vt:lpstr>Актуальность</vt:lpstr>
      <vt:lpstr>Цель и задачи</vt:lpstr>
      <vt:lpstr>Объект и предмет исследования</vt:lpstr>
      <vt:lpstr>Технологический стек</vt:lpstr>
      <vt:lpstr>Функциональные возможности</vt:lpstr>
      <vt:lpstr>Хранение данных</vt:lpstr>
      <vt:lpstr>Архитектура и взаимодействие</vt:lpstr>
      <vt:lpstr>Скриншоты интерфейса</vt:lpstr>
      <vt:lpstr>Заключение и перспективы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</cp:revision>
  <dcterms:created xsi:type="dcterms:W3CDTF">2026-05-20T23:57:53Z</dcterms:created>
  <dcterms:modified xsi:type="dcterms:W3CDTF">2026-05-21T01:02:47Z</dcterms:modified>
</cp:coreProperties>
</file>